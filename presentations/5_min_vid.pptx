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Inconsolata" pitchFamily="49" charset="77"/>
      <p:regular r:id="rId10"/>
    </p:embeddedFont>
    <p:embeddedFont>
      <p:font typeface="Inconsolata Bold" panose="020F0502020204030204" pitchFamily="34" charset="0"/>
      <p:regular r:id="rId11"/>
      <p:bold r:id="rId12"/>
    </p:embeddedFont>
    <p:embeddedFont>
      <p:font typeface="Montserrat Black" panose="020F0502020204030204" pitchFamily="34" charset="0"/>
      <p:regular r:id="rId13"/>
      <p:bold r:id="rId14"/>
      <p:italic r:id="rId15"/>
      <p:boldItalic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7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64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568748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Benchmarking Small-Object Detection on Brain MRI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624163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Cerebral Microbleed Case Study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186436"/>
            <a:ext cx="6296860" cy="25400"/>
          </a:xfrm>
          <a:prstGeom prst="roundRect">
            <a:avLst>
              <a:gd name="adj" fmla="val 59999"/>
            </a:avLst>
          </a:prstGeom>
          <a:solidFill>
            <a:srgbClr val="151617">
              <a:alpha val="5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" name="Text 3"/>
          <p:cNvSpPr/>
          <p:nvPr/>
        </p:nvSpPr>
        <p:spPr>
          <a:xfrm>
            <a:off x="5233360" y="4471690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Matthias Mifsud 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· Supervisor:</a:t>
            </a: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Prof. Charlie Abela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Faculty of ICT, University of Malta, 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420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Problem: Cerebral Microbleeds Are Difficult to Detect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4352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647579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They Are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131866"/>
            <a:ext cx="4544304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Tiny deposits of blood visible on specialised MRI sequences such as T2*. 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Associated with stroke, cognitive decline, and cerebral small-vessel disease.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73285" y="3647579"/>
            <a:ext cx="352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Detection Is Hard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673285" y="4131866"/>
            <a:ext cx="5863185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Radiologists must inspect hundreds of slices per scan. 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Microbleeds closely resemble blood vessels and other anatomical structures, making manual review slow, error-prone, and inconsistent.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409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Current Limitations: High-Performing Model Is Still Difficult to Trust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033885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2676426"/>
            <a:ext cx="49295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Problem with Standard Metrics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321267" y="2659360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475" y="3472855"/>
            <a:ext cx="3632308" cy="179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Standard metrics only provide summary numbers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Small localisation errors can heavily reduce the Dice score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Metrics do not explain </a:t>
            </a:r>
            <a:r>
              <a:rPr lang="en-US" sz="140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where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or </a:t>
            </a:r>
            <a:r>
              <a:rPr lang="en-US" sz="140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why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the model failed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423" y="3490020"/>
            <a:ext cx="5747797" cy="215483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1475" y="6007398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217"/>
            <a:ext cx="10868745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An Automated Detection and Visual Evaluation Pipeline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93" y="1910854"/>
            <a:ext cx="10240210" cy="44159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749" y="5489357"/>
            <a:ext cx="2323161" cy="29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Explore Results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64749" y="4467141"/>
            <a:ext cx="2323161" cy="29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Generate Masks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64749" y="3455250"/>
            <a:ext cx="2323161" cy="29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Train nnU-Net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64749" y="2433034"/>
            <a:ext cx="2323161" cy="29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Prepare Data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5" y="1274862"/>
            <a:ext cx="4448957" cy="430827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567234"/>
            <a:ext cx="629686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How the Dashboard Solves the Evaluation Problem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5233360" y="1454944"/>
            <a:ext cx="6296860" cy="1108571"/>
          </a:xfrm>
          <a:prstGeom prst="roundRect">
            <a:avLst>
              <a:gd name="adj" fmla="val 687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6" name="Shape 2"/>
          <p:cNvSpPr/>
          <p:nvPr/>
        </p:nvSpPr>
        <p:spPr>
          <a:xfrm>
            <a:off x="5362540" y="1584127"/>
            <a:ext cx="368489" cy="368498"/>
          </a:xfrm>
          <a:prstGeom prst="roundRect">
            <a:avLst>
              <a:gd name="adj" fmla="val 20676459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3840" y="1685429"/>
            <a:ext cx="165790" cy="16579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62540" y="2032397"/>
            <a:ext cx="206479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Slice-by-Slice Navigation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362540" y="2272209"/>
            <a:ext cx="60385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Inspect axial, sagittal, and coronal planes directly over the original MRI scan.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233360" y="2643287"/>
            <a:ext cx="6296860" cy="1108571"/>
          </a:xfrm>
          <a:prstGeom prst="roundRect">
            <a:avLst>
              <a:gd name="adj" fmla="val 687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1" name="Shape 6"/>
          <p:cNvSpPr/>
          <p:nvPr/>
        </p:nvSpPr>
        <p:spPr>
          <a:xfrm>
            <a:off x="5362540" y="2772470"/>
            <a:ext cx="368489" cy="368498"/>
          </a:xfrm>
          <a:prstGeom prst="roundRect">
            <a:avLst>
              <a:gd name="adj" fmla="val 20676459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3840" y="2873772"/>
            <a:ext cx="165790" cy="16579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62540" y="3220740"/>
            <a:ext cx="203343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Colour-Coded Outcomes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5362540" y="3460552"/>
            <a:ext cx="60385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Green</a:t>
            </a: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= correctly detected · </a:t>
            </a:r>
            <a:r>
              <a:rPr lang="en-US" sz="9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Red</a:t>
            </a: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= false positive · </a:t>
            </a:r>
            <a:r>
              <a:rPr lang="en-US" sz="9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Yellow</a:t>
            </a: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= missed lesion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5233360" y="3831630"/>
            <a:ext cx="6296860" cy="1270695"/>
          </a:xfrm>
          <a:prstGeom prst="roundRect">
            <a:avLst>
              <a:gd name="adj" fmla="val 600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6" name="Shape 10"/>
          <p:cNvSpPr/>
          <p:nvPr/>
        </p:nvSpPr>
        <p:spPr>
          <a:xfrm>
            <a:off x="5362540" y="3960813"/>
            <a:ext cx="368489" cy="368498"/>
          </a:xfrm>
          <a:prstGeom prst="roundRect">
            <a:avLst>
              <a:gd name="adj" fmla="val 20676459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63840" y="4062115"/>
            <a:ext cx="165790" cy="16579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62540" y="4409083"/>
            <a:ext cx="205873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Interactive Thresholding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5362540" y="4648895"/>
            <a:ext cx="6038500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Adjust the probability threshold in real time to distinguish sub-threshold detections from complete misses.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5233360" y="5182096"/>
            <a:ext cx="6296860" cy="1108571"/>
          </a:xfrm>
          <a:prstGeom prst="roundRect">
            <a:avLst>
              <a:gd name="adj" fmla="val 687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21" name="Shape 14"/>
          <p:cNvSpPr/>
          <p:nvPr/>
        </p:nvSpPr>
        <p:spPr>
          <a:xfrm>
            <a:off x="5362540" y="5311279"/>
            <a:ext cx="368489" cy="368498"/>
          </a:xfrm>
          <a:prstGeom prst="roundRect">
            <a:avLst>
              <a:gd name="adj" fmla="val 20676459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63840" y="5412581"/>
            <a:ext cx="165790" cy="16579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62540" y="5759549"/>
            <a:ext cx="219258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Cross-Subject Comparison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5362540" y="5999361"/>
            <a:ext cx="60385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Summary tables and graphs quickly identify subjects where the model underperformed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2655"/>
            <a:ext cx="8699778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Findings: Detection Performance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4623" y="1594644"/>
            <a:ext cx="50613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96%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2202998" y="2404864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Mean Sensitivity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61475" y="2787650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Across all evaluated subjects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35554" y="1594644"/>
            <a:ext cx="50614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97%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7744028" y="2404864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Mean F1-Score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202406" y="2787650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Lesion-level detection accuracy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4623" y="3498552"/>
            <a:ext cx="50613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90%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2202998" y="4308773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Mean Dice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61475" y="4691559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Voxel-level overlap coefficient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35554" y="3498552"/>
            <a:ext cx="50614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100%</a:t>
            </a:r>
            <a:endParaRPr lang="en-US" sz="4650" dirty="0"/>
          </a:p>
        </p:txBody>
      </p:sp>
      <p:sp>
        <p:nvSpPr>
          <p:cNvPr id="13" name="Text 11"/>
          <p:cNvSpPr/>
          <p:nvPr/>
        </p:nvSpPr>
        <p:spPr>
          <a:xfrm>
            <a:off x="7739960" y="4308773"/>
            <a:ext cx="225270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Median Sensitivity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202406" y="4691559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And median F1-score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1475" y="5163542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1475" y="5635526"/>
            <a:ext cx="10868745" cy="61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 false-positive detections were recorded in the reported evaluation. 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Some apparent false negatives were reclassified as true positives when the confidence threshold was reduced.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8319" y="1141115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1523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530277"/>
            <a:ext cx="5316206" cy="1404243"/>
          </a:xfrm>
          <a:prstGeom prst="roundRect">
            <a:avLst>
              <a:gd name="adj" fmla="val 543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241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5" name="Shape 3"/>
          <p:cNvSpPr/>
          <p:nvPr/>
        </p:nvSpPr>
        <p:spPr>
          <a:xfrm>
            <a:off x="856832" y="2826048"/>
            <a:ext cx="94454" cy="94456"/>
          </a:xfrm>
          <a:prstGeom prst="roundRect">
            <a:avLst>
              <a:gd name="adj" fmla="val 403361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" name="Text 4"/>
          <p:cNvSpPr/>
          <p:nvPr/>
        </p:nvSpPr>
        <p:spPr>
          <a:xfrm>
            <a:off x="1140293" y="2725638"/>
            <a:ext cx="27470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Power of Automation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140293" y="3134320"/>
            <a:ext cx="464203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Automation can significantly reduce the workload of manual MRI review for radiologists.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3915" y="2530277"/>
            <a:ext cx="5316305" cy="1404243"/>
          </a:xfrm>
          <a:prstGeom prst="roundRect">
            <a:avLst>
              <a:gd name="adj" fmla="val 543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241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9" name="Shape 7"/>
          <p:cNvSpPr/>
          <p:nvPr/>
        </p:nvSpPr>
        <p:spPr>
          <a:xfrm>
            <a:off x="6409272" y="2826048"/>
            <a:ext cx="94454" cy="94456"/>
          </a:xfrm>
          <a:prstGeom prst="roundRect">
            <a:avLst>
              <a:gd name="adj" fmla="val 403361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0" name="Text 8"/>
          <p:cNvSpPr/>
          <p:nvPr/>
        </p:nvSpPr>
        <p:spPr>
          <a:xfrm>
            <a:off x="6692733" y="2725638"/>
            <a:ext cx="34959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Prefer Lesion-Level Metrics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692733" y="3134320"/>
            <a:ext cx="464213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Lesion-level evaluation is more informative than voxel-level scores for tiny, sparse objects.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312543"/>
            <a:ext cx="5316206" cy="1404243"/>
          </a:xfrm>
          <a:prstGeom prst="roundRect">
            <a:avLst>
              <a:gd name="adj" fmla="val 543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241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3" name="Shape 11"/>
          <p:cNvSpPr/>
          <p:nvPr/>
        </p:nvSpPr>
        <p:spPr>
          <a:xfrm>
            <a:off x="856832" y="4608314"/>
            <a:ext cx="94454" cy="94456"/>
          </a:xfrm>
          <a:prstGeom prst="roundRect">
            <a:avLst>
              <a:gd name="adj" fmla="val 403361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4" name="Text 12"/>
          <p:cNvSpPr/>
          <p:nvPr/>
        </p:nvSpPr>
        <p:spPr>
          <a:xfrm>
            <a:off x="1140293" y="4507905"/>
            <a:ext cx="44568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Visual Inspection Explains Failures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140293" y="4916587"/>
            <a:ext cx="464203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Interactive dashboards reveal </a:t>
            </a:r>
            <a:r>
              <a:rPr lang="en-US" sz="14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where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and </a:t>
            </a:r>
            <a:r>
              <a:rPr lang="en-US" sz="14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why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 model succeeds or fails.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3915" y="4312543"/>
            <a:ext cx="5316305" cy="1404243"/>
          </a:xfrm>
          <a:prstGeom prst="roundRect">
            <a:avLst>
              <a:gd name="adj" fmla="val 543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241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7" name="Shape 15"/>
          <p:cNvSpPr/>
          <p:nvPr/>
        </p:nvSpPr>
        <p:spPr>
          <a:xfrm>
            <a:off x="6409272" y="4608314"/>
            <a:ext cx="94454" cy="94456"/>
          </a:xfrm>
          <a:prstGeom prst="roundRect">
            <a:avLst>
              <a:gd name="adj" fmla="val 403361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8" name="Text 16"/>
          <p:cNvSpPr/>
          <p:nvPr/>
        </p:nvSpPr>
        <p:spPr>
          <a:xfrm>
            <a:off x="6692733" y="4507905"/>
            <a:ext cx="30636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Generalisable Approach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692733" y="4916587"/>
            <a:ext cx="464213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pipeline can extend to other small-object detection tasks in medical imaging.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354</Words>
  <Application>Microsoft Macintosh PowerPoint</Application>
  <PresentationFormat>Widescreen</PresentationFormat>
  <Paragraphs>61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Inconsolata</vt:lpstr>
      <vt:lpstr>Montserrat Black</vt:lpstr>
      <vt:lpstr>Inconsolata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Matthias Mifsud</cp:lastModifiedBy>
  <cp:revision>4</cp:revision>
  <dcterms:created xsi:type="dcterms:W3CDTF">2026-06-29T11:08:18Z</dcterms:created>
  <dcterms:modified xsi:type="dcterms:W3CDTF">2026-06-29T15:52:38Z</dcterms:modified>
</cp:coreProperties>
</file>