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2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embeddedFontLst>
    <p:embeddedFont>
      <p:font typeface="Inconsolata" pitchFamily="49" charset="77"/>
      <p:regular r:id="rId10"/>
    </p:embeddedFont>
    <p:embeddedFont>
      <p:font typeface="Inconsolata Bold" panose="020F0502020204030204" pitchFamily="34" charset="0"/>
      <p:regular r:id="rId11"/>
      <p:bold r:id="rId12"/>
    </p:embeddedFont>
    <p:embeddedFont>
      <p:font typeface="Montserrat Black" panose="020F0502020204030204" pitchFamily="34" charset="0"/>
      <p:regular r:id="rId13"/>
      <p:bold r:id="rId14"/>
      <p:italic r:id="rId15"/>
      <p:boldItalic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518"/>
    <p:restoredTop sz="94610"/>
  </p:normalViewPr>
  <p:slideViewPr>
    <p:cSldViewPr snapToGrid="0" snapToObjects="1">
      <p:cViewPr varScale="1">
        <p:scale>
          <a:sx n="125" d="100"/>
          <a:sy n="125" d="100"/>
        </p:scale>
        <p:origin x="16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16462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ECE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ECE4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1568748"/>
            <a:ext cx="6296860" cy="17719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Benchmarking Small-Object Detection on Brain MRI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5233360" y="3624163"/>
            <a:ext cx="690644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A Cerebral Microbleed Case Study</a:t>
            </a:r>
            <a:endParaRPr lang="en-US" sz="1450" dirty="0"/>
          </a:p>
        </p:txBody>
      </p:sp>
      <p:sp>
        <p:nvSpPr>
          <p:cNvPr id="5" name="Shape 2"/>
          <p:cNvSpPr/>
          <p:nvPr/>
        </p:nvSpPr>
        <p:spPr>
          <a:xfrm>
            <a:off x="5233360" y="4186436"/>
            <a:ext cx="6296860" cy="25400"/>
          </a:xfrm>
          <a:prstGeom prst="roundRect">
            <a:avLst>
              <a:gd name="adj" fmla="val 59999"/>
            </a:avLst>
          </a:prstGeom>
          <a:solidFill>
            <a:srgbClr val="151617">
              <a:alpha val="50000"/>
            </a:srgbClr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6" name="Text 3"/>
          <p:cNvSpPr/>
          <p:nvPr/>
        </p:nvSpPr>
        <p:spPr>
          <a:xfrm>
            <a:off x="5233360" y="4471690"/>
            <a:ext cx="6296860" cy="817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151617"/>
                </a:solidFill>
                <a:latin typeface="Inconsolata Bold" pitchFamily="34" charset="0"/>
                <a:ea typeface="Inconsolata Bold" pitchFamily="34" charset="-122"/>
                <a:cs typeface="Inconsolata Bold" pitchFamily="34" charset="-120"/>
              </a:rPr>
              <a:t>Matthias Mifsud </a:t>
            </a:r>
            <a:r>
              <a:rPr lang="en-US" sz="14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· Supervisor:</a:t>
            </a:r>
            <a:r>
              <a:rPr lang="en-US" sz="1450" b="1" dirty="0">
                <a:solidFill>
                  <a:srgbClr val="151617"/>
                </a:solidFill>
                <a:latin typeface="Inconsolata Bold" pitchFamily="34" charset="0"/>
                <a:ea typeface="Inconsolata Bold" pitchFamily="34" charset="-122"/>
                <a:cs typeface="Inconsolata Bold" pitchFamily="34" charset="-120"/>
              </a:rPr>
              <a:t> Prof. Charlie Abela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Faculty of ICT, University of Malta, 2026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384201"/>
            <a:ext cx="10868745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Problem: Cerebral Microbleeds Are Difficult to Detect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943523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661475" y="3647579"/>
            <a:ext cx="2972222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What They Are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661475" y="4131866"/>
            <a:ext cx="4544304" cy="12757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Tiny deposits of blood visible on specialised MRI sequences such as T2*. 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Associated with stroke, cognitive decline, and cerebral small-vessel disease.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5673285" y="3647579"/>
            <a:ext cx="352326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Why Detection Is Hard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5673285" y="4131866"/>
            <a:ext cx="5863185" cy="12757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Radiologists must inspect hundreds of slices per scan. 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Microbleeds closely resemble blood vessels and other anatomical structures, making manual review slow, error-prone, and inconsistent.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70409"/>
            <a:ext cx="10868745" cy="11223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Current Limitations: High-Performing Model Is Still Difficult to Trust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661475" y="2033885"/>
            <a:ext cx="11478330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61475" y="2676426"/>
            <a:ext cx="4929560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The Problem with Standard Metrics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321267" y="2659360"/>
            <a:ext cx="5824888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61475" y="3472855"/>
            <a:ext cx="3632308" cy="17998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4480" indent="-284480" algn="l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Standard metrics only provide summary numbers</a:t>
            </a:r>
            <a:endParaRPr lang="en-US" sz="1400" dirty="0"/>
          </a:p>
          <a:p>
            <a:pPr marL="284480" indent="-284480" algn="l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Small localisation errors can heavily reduce the Dice score</a:t>
            </a:r>
            <a:endParaRPr lang="en-US" sz="1400" dirty="0"/>
          </a:p>
          <a:p>
            <a:pPr marL="284480" indent="-284480" algn="l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Metrics do not explain </a:t>
            </a:r>
            <a:r>
              <a:rPr lang="en-US" sz="1400" i="1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where</a:t>
            </a:r>
            <a:r>
              <a:rPr lang="en-US" sz="140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 or </a:t>
            </a:r>
            <a:r>
              <a:rPr lang="en-US" sz="1400" i="1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why</a:t>
            </a:r>
            <a:r>
              <a:rPr lang="en-US" sz="140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 the model failed</a:t>
            </a:r>
            <a:endParaRPr lang="en-US" sz="14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3423" y="3490020"/>
            <a:ext cx="5747797" cy="215483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61475" y="6007398"/>
            <a:ext cx="11478330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31217"/>
            <a:ext cx="10868745" cy="1069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5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An Automated Detection and Visual Evaluation Pipeline</a:t>
            </a:r>
            <a:endParaRPr lang="en-US" sz="33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693" y="1910854"/>
            <a:ext cx="10240210" cy="441592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64749" y="5489357"/>
            <a:ext cx="2323161" cy="2904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Explore Results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1664749" y="4467141"/>
            <a:ext cx="2323161" cy="2904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Generate Masks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664749" y="3455250"/>
            <a:ext cx="2323161" cy="2904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Train nnU-Net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664749" y="2433034"/>
            <a:ext cx="2323161" cy="2904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Prepare Data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15" y="1274862"/>
            <a:ext cx="4448957" cy="4308277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233360" y="567234"/>
            <a:ext cx="6296860" cy="7679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How the Dashboard Solves the Evaluation Problem</a:t>
            </a:r>
            <a:endParaRPr lang="en-US" sz="2400" dirty="0"/>
          </a:p>
        </p:txBody>
      </p:sp>
      <p:sp>
        <p:nvSpPr>
          <p:cNvPr id="5" name="Shape 1"/>
          <p:cNvSpPr/>
          <p:nvPr/>
        </p:nvSpPr>
        <p:spPr>
          <a:xfrm>
            <a:off x="5233360" y="1454944"/>
            <a:ext cx="6296860" cy="1108571"/>
          </a:xfrm>
          <a:prstGeom prst="roundRect">
            <a:avLst>
              <a:gd name="adj" fmla="val 687"/>
            </a:avLst>
          </a:prstGeom>
          <a:solidFill>
            <a:srgbClr val="F8ECE4"/>
          </a:solidFill>
          <a:ln w="6350">
            <a:solidFill>
              <a:srgbClr val="151617"/>
            </a:solidFill>
            <a:prstDash val="solid"/>
          </a:ln>
          <a:effectLst>
            <a:outerShdw blurRad="101600" dist="15240" dir="2700000" algn="bl" rotWithShape="0">
              <a:srgbClr val="151617">
                <a:alpha val="100000"/>
              </a:srgbClr>
            </a:outerShdw>
          </a:effectLst>
        </p:spPr>
        <p:txBody>
          <a:bodyPr/>
          <a:lstStyle/>
          <a:p>
            <a:endParaRPr lang="en-MT"/>
          </a:p>
        </p:txBody>
      </p:sp>
      <p:sp>
        <p:nvSpPr>
          <p:cNvPr id="6" name="Shape 2"/>
          <p:cNvSpPr/>
          <p:nvPr/>
        </p:nvSpPr>
        <p:spPr>
          <a:xfrm>
            <a:off x="5362540" y="1584127"/>
            <a:ext cx="368489" cy="368498"/>
          </a:xfrm>
          <a:prstGeom prst="roundRect">
            <a:avLst>
              <a:gd name="adj" fmla="val 20676459"/>
            </a:avLst>
          </a:prstGeom>
          <a:solidFill>
            <a:srgbClr val="151617"/>
          </a:solidFill>
          <a:ln/>
        </p:spPr>
        <p:txBody>
          <a:bodyPr/>
          <a:lstStyle/>
          <a:p>
            <a:endParaRPr lang="en-MT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63840" y="1685429"/>
            <a:ext cx="165790" cy="165795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362540" y="2032397"/>
            <a:ext cx="2064790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Slice-by-Slice Navigation</a:t>
            </a:r>
            <a:endParaRPr lang="en-US" sz="1200" dirty="0"/>
          </a:p>
        </p:txBody>
      </p:sp>
      <p:sp>
        <p:nvSpPr>
          <p:cNvPr id="9" name="Text 4"/>
          <p:cNvSpPr/>
          <p:nvPr/>
        </p:nvSpPr>
        <p:spPr>
          <a:xfrm>
            <a:off x="5362540" y="2272209"/>
            <a:ext cx="6038500" cy="162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Inspect axial, sagittal, and coronal planes directly over the original MRI scan.</a:t>
            </a:r>
            <a:endParaRPr lang="en-US" sz="950" dirty="0"/>
          </a:p>
        </p:txBody>
      </p:sp>
      <p:sp>
        <p:nvSpPr>
          <p:cNvPr id="10" name="Shape 5"/>
          <p:cNvSpPr/>
          <p:nvPr/>
        </p:nvSpPr>
        <p:spPr>
          <a:xfrm>
            <a:off x="5233360" y="2643287"/>
            <a:ext cx="6296860" cy="1108571"/>
          </a:xfrm>
          <a:prstGeom prst="roundRect">
            <a:avLst>
              <a:gd name="adj" fmla="val 687"/>
            </a:avLst>
          </a:prstGeom>
          <a:solidFill>
            <a:srgbClr val="F8ECE4"/>
          </a:solidFill>
          <a:ln w="6350">
            <a:solidFill>
              <a:srgbClr val="151617"/>
            </a:solidFill>
            <a:prstDash val="solid"/>
          </a:ln>
          <a:effectLst>
            <a:outerShdw blurRad="101600" dist="15240" dir="2700000" algn="bl" rotWithShape="0">
              <a:srgbClr val="151617">
                <a:alpha val="100000"/>
              </a:srgbClr>
            </a:outerShdw>
          </a:effectLst>
        </p:spPr>
        <p:txBody>
          <a:bodyPr/>
          <a:lstStyle/>
          <a:p>
            <a:endParaRPr lang="en-MT"/>
          </a:p>
        </p:txBody>
      </p:sp>
      <p:sp>
        <p:nvSpPr>
          <p:cNvPr id="11" name="Shape 6"/>
          <p:cNvSpPr/>
          <p:nvPr/>
        </p:nvSpPr>
        <p:spPr>
          <a:xfrm>
            <a:off x="5362540" y="2772470"/>
            <a:ext cx="368489" cy="368498"/>
          </a:xfrm>
          <a:prstGeom prst="roundRect">
            <a:avLst>
              <a:gd name="adj" fmla="val 20676459"/>
            </a:avLst>
          </a:prstGeom>
          <a:solidFill>
            <a:srgbClr val="151617"/>
          </a:solidFill>
          <a:ln/>
        </p:spPr>
        <p:txBody>
          <a:bodyPr/>
          <a:lstStyle/>
          <a:p>
            <a:endParaRPr lang="en-MT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63840" y="2873772"/>
            <a:ext cx="165790" cy="165795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362540" y="3220740"/>
            <a:ext cx="2033437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Colour-Coded Outcomes</a:t>
            </a:r>
            <a:endParaRPr lang="en-US" sz="1200" dirty="0"/>
          </a:p>
        </p:txBody>
      </p:sp>
      <p:sp>
        <p:nvSpPr>
          <p:cNvPr id="14" name="Text 8"/>
          <p:cNvSpPr/>
          <p:nvPr/>
        </p:nvSpPr>
        <p:spPr>
          <a:xfrm>
            <a:off x="5362540" y="3460552"/>
            <a:ext cx="6038500" cy="162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151617"/>
                </a:solidFill>
                <a:latin typeface="Inconsolata Bold" pitchFamily="34" charset="0"/>
                <a:ea typeface="Inconsolata Bold" pitchFamily="34" charset="-122"/>
                <a:cs typeface="Inconsolata Bold" pitchFamily="34" charset="-120"/>
              </a:rPr>
              <a:t>Green</a:t>
            </a:r>
            <a:r>
              <a:rPr lang="en-US" sz="9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 = correctly detected · </a:t>
            </a:r>
            <a:r>
              <a:rPr lang="en-US" sz="950" b="1" dirty="0">
                <a:solidFill>
                  <a:srgbClr val="151617"/>
                </a:solidFill>
                <a:latin typeface="Inconsolata Bold" pitchFamily="34" charset="0"/>
                <a:ea typeface="Inconsolata Bold" pitchFamily="34" charset="-122"/>
                <a:cs typeface="Inconsolata Bold" pitchFamily="34" charset="-120"/>
              </a:rPr>
              <a:t>Red</a:t>
            </a:r>
            <a:r>
              <a:rPr lang="en-US" sz="9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 = false positive · </a:t>
            </a:r>
            <a:r>
              <a:rPr lang="en-US" sz="950" b="1" dirty="0">
                <a:solidFill>
                  <a:srgbClr val="151617"/>
                </a:solidFill>
                <a:latin typeface="Inconsolata Bold" pitchFamily="34" charset="0"/>
                <a:ea typeface="Inconsolata Bold" pitchFamily="34" charset="-122"/>
                <a:cs typeface="Inconsolata Bold" pitchFamily="34" charset="-120"/>
              </a:rPr>
              <a:t>Yellow</a:t>
            </a:r>
            <a:r>
              <a:rPr lang="en-US" sz="9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 = missed lesion</a:t>
            </a:r>
            <a:endParaRPr lang="en-US" sz="950" dirty="0"/>
          </a:p>
        </p:txBody>
      </p:sp>
      <p:sp>
        <p:nvSpPr>
          <p:cNvPr id="15" name="Shape 9"/>
          <p:cNvSpPr/>
          <p:nvPr/>
        </p:nvSpPr>
        <p:spPr>
          <a:xfrm>
            <a:off x="5233360" y="3831630"/>
            <a:ext cx="6296860" cy="1270695"/>
          </a:xfrm>
          <a:prstGeom prst="roundRect">
            <a:avLst>
              <a:gd name="adj" fmla="val 600"/>
            </a:avLst>
          </a:prstGeom>
          <a:solidFill>
            <a:srgbClr val="F8ECE4"/>
          </a:solidFill>
          <a:ln w="6350">
            <a:solidFill>
              <a:srgbClr val="151617"/>
            </a:solidFill>
            <a:prstDash val="solid"/>
          </a:ln>
          <a:effectLst>
            <a:outerShdw blurRad="101600" dist="15240" dir="2700000" algn="bl" rotWithShape="0">
              <a:srgbClr val="151617">
                <a:alpha val="100000"/>
              </a:srgbClr>
            </a:outerShdw>
          </a:effectLst>
        </p:spPr>
        <p:txBody>
          <a:bodyPr/>
          <a:lstStyle/>
          <a:p>
            <a:endParaRPr lang="en-MT"/>
          </a:p>
        </p:txBody>
      </p:sp>
      <p:sp>
        <p:nvSpPr>
          <p:cNvPr id="16" name="Shape 10"/>
          <p:cNvSpPr/>
          <p:nvPr/>
        </p:nvSpPr>
        <p:spPr>
          <a:xfrm>
            <a:off x="5362540" y="3960813"/>
            <a:ext cx="368489" cy="368498"/>
          </a:xfrm>
          <a:prstGeom prst="roundRect">
            <a:avLst>
              <a:gd name="adj" fmla="val 20676459"/>
            </a:avLst>
          </a:prstGeom>
          <a:solidFill>
            <a:srgbClr val="151617"/>
          </a:solidFill>
          <a:ln/>
        </p:spPr>
        <p:txBody>
          <a:bodyPr/>
          <a:lstStyle/>
          <a:p>
            <a:endParaRPr lang="en-MT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463840" y="4062115"/>
            <a:ext cx="165790" cy="165795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5362540" y="4409083"/>
            <a:ext cx="2058738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Interactive Thresholding</a:t>
            </a:r>
            <a:endParaRPr lang="en-US" sz="1200" dirty="0"/>
          </a:p>
        </p:txBody>
      </p:sp>
      <p:sp>
        <p:nvSpPr>
          <p:cNvPr id="19" name="Text 12"/>
          <p:cNvSpPr/>
          <p:nvPr/>
        </p:nvSpPr>
        <p:spPr>
          <a:xfrm>
            <a:off x="5362540" y="4648895"/>
            <a:ext cx="6038500" cy="3242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Adjust the probability threshold in real time to distinguish sub-threshold detections from complete misses.</a:t>
            </a:r>
            <a:endParaRPr lang="en-US" sz="950" dirty="0"/>
          </a:p>
        </p:txBody>
      </p:sp>
      <p:sp>
        <p:nvSpPr>
          <p:cNvPr id="20" name="Shape 13"/>
          <p:cNvSpPr/>
          <p:nvPr/>
        </p:nvSpPr>
        <p:spPr>
          <a:xfrm>
            <a:off x="5233360" y="5182096"/>
            <a:ext cx="6296860" cy="1108571"/>
          </a:xfrm>
          <a:prstGeom prst="roundRect">
            <a:avLst>
              <a:gd name="adj" fmla="val 687"/>
            </a:avLst>
          </a:prstGeom>
          <a:solidFill>
            <a:srgbClr val="F8ECE4"/>
          </a:solidFill>
          <a:ln w="6350">
            <a:solidFill>
              <a:srgbClr val="151617"/>
            </a:solidFill>
            <a:prstDash val="solid"/>
          </a:ln>
          <a:effectLst>
            <a:outerShdw blurRad="101600" dist="15240" dir="2700000" algn="bl" rotWithShape="0">
              <a:srgbClr val="151617">
                <a:alpha val="100000"/>
              </a:srgbClr>
            </a:outerShdw>
          </a:effectLst>
        </p:spPr>
        <p:txBody>
          <a:bodyPr/>
          <a:lstStyle/>
          <a:p>
            <a:endParaRPr lang="en-MT"/>
          </a:p>
        </p:txBody>
      </p:sp>
      <p:sp>
        <p:nvSpPr>
          <p:cNvPr id="21" name="Shape 14"/>
          <p:cNvSpPr/>
          <p:nvPr/>
        </p:nvSpPr>
        <p:spPr>
          <a:xfrm>
            <a:off x="5362540" y="5311279"/>
            <a:ext cx="368489" cy="368498"/>
          </a:xfrm>
          <a:prstGeom prst="roundRect">
            <a:avLst>
              <a:gd name="adj" fmla="val 20676459"/>
            </a:avLst>
          </a:prstGeom>
          <a:solidFill>
            <a:srgbClr val="151617"/>
          </a:solidFill>
          <a:ln/>
        </p:spPr>
        <p:txBody>
          <a:bodyPr/>
          <a:lstStyle/>
          <a:p>
            <a:endParaRPr lang="en-MT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463840" y="5412581"/>
            <a:ext cx="165790" cy="165795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5362540" y="5759549"/>
            <a:ext cx="2192580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Cross-Subject Comparison</a:t>
            </a:r>
            <a:endParaRPr lang="en-US" sz="1200" dirty="0"/>
          </a:p>
        </p:txBody>
      </p:sp>
      <p:sp>
        <p:nvSpPr>
          <p:cNvPr id="24" name="Text 16"/>
          <p:cNvSpPr/>
          <p:nvPr/>
        </p:nvSpPr>
        <p:spPr>
          <a:xfrm>
            <a:off x="5362540" y="5999361"/>
            <a:ext cx="6038500" cy="162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Summary tables and graphs quickly identify subjects where the model underperformed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02655"/>
            <a:ext cx="8699778" cy="5611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Findings: Detection Performance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794623" y="1594644"/>
            <a:ext cx="5061319" cy="5926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65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96%</a:t>
            </a:r>
            <a:endParaRPr lang="en-US" sz="4650" dirty="0"/>
          </a:p>
        </p:txBody>
      </p:sp>
      <p:sp>
        <p:nvSpPr>
          <p:cNvPr id="4" name="Text 2"/>
          <p:cNvSpPr/>
          <p:nvPr/>
        </p:nvSpPr>
        <p:spPr>
          <a:xfrm>
            <a:off x="2202998" y="2404864"/>
            <a:ext cx="2244570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75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Mean Sensitivity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61475" y="2787650"/>
            <a:ext cx="5327715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40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Across all evaluated subjects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335554" y="1594644"/>
            <a:ext cx="5061419" cy="5926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65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97%</a:t>
            </a:r>
            <a:endParaRPr lang="en-US" sz="4650" dirty="0"/>
          </a:p>
        </p:txBody>
      </p:sp>
      <p:sp>
        <p:nvSpPr>
          <p:cNvPr id="7" name="Text 5"/>
          <p:cNvSpPr/>
          <p:nvPr/>
        </p:nvSpPr>
        <p:spPr>
          <a:xfrm>
            <a:off x="7744028" y="2404864"/>
            <a:ext cx="2244570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75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Mean F1-Score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6202406" y="2787650"/>
            <a:ext cx="5327814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40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Lesion-level detection accuracy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94623" y="3498552"/>
            <a:ext cx="5061319" cy="5926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65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90%</a:t>
            </a:r>
            <a:endParaRPr lang="en-US" sz="4650" dirty="0"/>
          </a:p>
        </p:txBody>
      </p:sp>
      <p:sp>
        <p:nvSpPr>
          <p:cNvPr id="10" name="Text 8"/>
          <p:cNvSpPr/>
          <p:nvPr/>
        </p:nvSpPr>
        <p:spPr>
          <a:xfrm>
            <a:off x="2202998" y="4308773"/>
            <a:ext cx="2244570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75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Mean Dice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661475" y="4691559"/>
            <a:ext cx="5327715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40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Voxel-level overlap coefficient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35554" y="3498552"/>
            <a:ext cx="5061419" cy="5926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65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100%</a:t>
            </a:r>
            <a:endParaRPr lang="en-US" sz="4650" dirty="0"/>
          </a:p>
        </p:txBody>
      </p:sp>
      <p:sp>
        <p:nvSpPr>
          <p:cNvPr id="13" name="Text 11"/>
          <p:cNvSpPr/>
          <p:nvPr/>
        </p:nvSpPr>
        <p:spPr>
          <a:xfrm>
            <a:off x="7739960" y="4308773"/>
            <a:ext cx="2252705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75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Median Sensitivity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6202406" y="4691559"/>
            <a:ext cx="5327814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40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And median F1-score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61475" y="5163542"/>
            <a:ext cx="11478330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1475" y="5635526"/>
            <a:ext cx="10868745" cy="619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4480" indent="-284480" algn="l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No false-positive detections were recorded in the reported evaluation. </a:t>
            </a:r>
            <a:endParaRPr lang="en-US" sz="1400" dirty="0"/>
          </a:p>
          <a:p>
            <a:pPr marL="284480" indent="-284480" algn="l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Some apparent false negatives were reclassified as true positives when the confidence threshold was reduced.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28319" y="1141115"/>
            <a:ext cx="5334958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370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Conclusion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015232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61475" y="2530277"/>
            <a:ext cx="5316206" cy="1404243"/>
          </a:xfrm>
          <a:prstGeom prst="roundRect">
            <a:avLst>
              <a:gd name="adj" fmla="val 543"/>
            </a:avLst>
          </a:prstGeom>
          <a:solidFill>
            <a:srgbClr val="F8ECE4"/>
          </a:solidFill>
          <a:ln w="6350">
            <a:solidFill>
              <a:srgbClr val="151617"/>
            </a:solidFill>
            <a:prstDash val="solid"/>
          </a:ln>
          <a:effectLst>
            <a:outerShdw blurRad="101600" dist="24130" dir="2700000" algn="bl" rotWithShape="0">
              <a:srgbClr val="151617">
                <a:alpha val="100000"/>
              </a:srgbClr>
            </a:outerShdw>
          </a:effectLst>
        </p:spPr>
        <p:txBody>
          <a:bodyPr/>
          <a:lstStyle/>
          <a:p>
            <a:endParaRPr lang="en-MT"/>
          </a:p>
        </p:txBody>
      </p:sp>
      <p:sp>
        <p:nvSpPr>
          <p:cNvPr id="5" name="Shape 3"/>
          <p:cNvSpPr/>
          <p:nvPr/>
        </p:nvSpPr>
        <p:spPr>
          <a:xfrm>
            <a:off x="856832" y="2826048"/>
            <a:ext cx="94454" cy="94456"/>
          </a:xfrm>
          <a:prstGeom prst="roundRect">
            <a:avLst>
              <a:gd name="adj" fmla="val 403361"/>
            </a:avLst>
          </a:prstGeom>
          <a:solidFill>
            <a:srgbClr val="151617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6" name="Text 4"/>
          <p:cNvSpPr/>
          <p:nvPr/>
        </p:nvSpPr>
        <p:spPr>
          <a:xfrm>
            <a:off x="1140293" y="2725638"/>
            <a:ext cx="2747001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Power of Automation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1140293" y="3134320"/>
            <a:ext cx="4642032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Automation can significantly reduce the workload of manual MRI review for radiologists.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3915" y="2530277"/>
            <a:ext cx="5316305" cy="1404243"/>
          </a:xfrm>
          <a:prstGeom prst="roundRect">
            <a:avLst>
              <a:gd name="adj" fmla="val 543"/>
            </a:avLst>
          </a:prstGeom>
          <a:solidFill>
            <a:srgbClr val="F8ECE4"/>
          </a:solidFill>
          <a:ln w="6350">
            <a:solidFill>
              <a:srgbClr val="151617"/>
            </a:solidFill>
            <a:prstDash val="solid"/>
          </a:ln>
          <a:effectLst>
            <a:outerShdw blurRad="101600" dist="24130" dir="2700000" algn="bl" rotWithShape="0">
              <a:srgbClr val="151617">
                <a:alpha val="100000"/>
              </a:srgbClr>
            </a:outerShdw>
          </a:effectLst>
        </p:spPr>
        <p:txBody>
          <a:bodyPr/>
          <a:lstStyle/>
          <a:p>
            <a:endParaRPr lang="en-MT"/>
          </a:p>
        </p:txBody>
      </p:sp>
      <p:sp>
        <p:nvSpPr>
          <p:cNvPr id="9" name="Shape 7"/>
          <p:cNvSpPr/>
          <p:nvPr/>
        </p:nvSpPr>
        <p:spPr>
          <a:xfrm>
            <a:off x="6409272" y="2826048"/>
            <a:ext cx="94454" cy="94456"/>
          </a:xfrm>
          <a:prstGeom prst="roundRect">
            <a:avLst>
              <a:gd name="adj" fmla="val 403361"/>
            </a:avLst>
          </a:prstGeom>
          <a:solidFill>
            <a:srgbClr val="151617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10" name="Text 8"/>
          <p:cNvSpPr/>
          <p:nvPr/>
        </p:nvSpPr>
        <p:spPr>
          <a:xfrm>
            <a:off x="6692733" y="2725638"/>
            <a:ext cx="349598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Prefer Lesion-Level Metrics</a:t>
            </a:r>
            <a:endParaRPr lang="en-US" sz="1850" dirty="0"/>
          </a:p>
        </p:txBody>
      </p:sp>
      <p:sp>
        <p:nvSpPr>
          <p:cNvPr id="11" name="Text 9"/>
          <p:cNvSpPr/>
          <p:nvPr/>
        </p:nvSpPr>
        <p:spPr>
          <a:xfrm>
            <a:off x="6692733" y="3134320"/>
            <a:ext cx="4642131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Lesion-level evaluation is more informative than voxel-level scores for tiny, sparse objects.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61475" y="4312543"/>
            <a:ext cx="5316206" cy="1404243"/>
          </a:xfrm>
          <a:prstGeom prst="roundRect">
            <a:avLst>
              <a:gd name="adj" fmla="val 543"/>
            </a:avLst>
          </a:prstGeom>
          <a:solidFill>
            <a:srgbClr val="F8ECE4"/>
          </a:solidFill>
          <a:ln w="6350">
            <a:solidFill>
              <a:srgbClr val="151617"/>
            </a:solidFill>
            <a:prstDash val="solid"/>
          </a:ln>
          <a:effectLst>
            <a:outerShdw blurRad="101600" dist="24130" dir="2700000" algn="bl" rotWithShape="0">
              <a:srgbClr val="151617">
                <a:alpha val="100000"/>
              </a:srgbClr>
            </a:outerShdw>
          </a:effectLst>
        </p:spPr>
        <p:txBody>
          <a:bodyPr/>
          <a:lstStyle/>
          <a:p>
            <a:endParaRPr lang="en-MT"/>
          </a:p>
        </p:txBody>
      </p:sp>
      <p:sp>
        <p:nvSpPr>
          <p:cNvPr id="13" name="Shape 11"/>
          <p:cNvSpPr/>
          <p:nvPr/>
        </p:nvSpPr>
        <p:spPr>
          <a:xfrm>
            <a:off x="856832" y="4608314"/>
            <a:ext cx="94454" cy="94456"/>
          </a:xfrm>
          <a:prstGeom prst="roundRect">
            <a:avLst>
              <a:gd name="adj" fmla="val 403361"/>
            </a:avLst>
          </a:prstGeom>
          <a:solidFill>
            <a:srgbClr val="151617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14" name="Text 12"/>
          <p:cNvSpPr/>
          <p:nvPr/>
        </p:nvSpPr>
        <p:spPr>
          <a:xfrm>
            <a:off x="1140293" y="4507905"/>
            <a:ext cx="44568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Visual Inspection Explains Failures</a:t>
            </a:r>
            <a:endParaRPr lang="en-US" sz="1850" dirty="0"/>
          </a:p>
        </p:txBody>
      </p:sp>
      <p:sp>
        <p:nvSpPr>
          <p:cNvPr id="15" name="Text 13"/>
          <p:cNvSpPr/>
          <p:nvPr/>
        </p:nvSpPr>
        <p:spPr>
          <a:xfrm>
            <a:off x="1140293" y="4916587"/>
            <a:ext cx="4642032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Interactive dashboards reveal </a:t>
            </a:r>
            <a:r>
              <a:rPr lang="en-US" sz="1450" i="1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where</a:t>
            </a:r>
            <a:r>
              <a:rPr lang="en-US" sz="14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 and </a:t>
            </a:r>
            <a:r>
              <a:rPr lang="en-US" sz="1450" i="1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why</a:t>
            </a:r>
            <a:r>
              <a:rPr lang="en-US" sz="14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 a model succeeds or fails.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213915" y="4312543"/>
            <a:ext cx="5316305" cy="1404243"/>
          </a:xfrm>
          <a:prstGeom prst="roundRect">
            <a:avLst>
              <a:gd name="adj" fmla="val 543"/>
            </a:avLst>
          </a:prstGeom>
          <a:solidFill>
            <a:srgbClr val="F8ECE4"/>
          </a:solidFill>
          <a:ln w="6350">
            <a:solidFill>
              <a:srgbClr val="151617"/>
            </a:solidFill>
            <a:prstDash val="solid"/>
          </a:ln>
          <a:effectLst>
            <a:outerShdw blurRad="101600" dist="24130" dir="2700000" algn="bl" rotWithShape="0">
              <a:srgbClr val="151617">
                <a:alpha val="100000"/>
              </a:srgbClr>
            </a:outerShdw>
          </a:effectLst>
        </p:spPr>
        <p:txBody>
          <a:bodyPr/>
          <a:lstStyle/>
          <a:p>
            <a:endParaRPr lang="en-MT"/>
          </a:p>
        </p:txBody>
      </p:sp>
      <p:sp>
        <p:nvSpPr>
          <p:cNvPr id="17" name="Shape 15"/>
          <p:cNvSpPr/>
          <p:nvPr/>
        </p:nvSpPr>
        <p:spPr>
          <a:xfrm>
            <a:off x="6409272" y="4608314"/>
            <a:ext cx="94454" cy="94456"/>
          </a:xfrm>
          <a:prstGeom prst="roundRect">
            <a:avLst>
              <a:gd name="adj" fmla="val 403361"/>
            </a:avLst>
          </a:prstGeom>
          <a:solidFill>
            <a:srgbClr val="151617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18" name="Text 16"/>
          <p:cNvSpPr/>
          <p:nvPr/>
        </p:nvSpPr>
        <p:spPr>
          <a:xfrm>
            <a:off x="6692733" y="4507905"/>
            <a:ext cx="306369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Generalisable Approach</a:t>
            </a:r>
            <a:endParaRPr lang="en-US" sz="1850" dirty="0"/>
          </a:p>
        </p:txBody>
      </p:sp>
      <p:sp>
        <p:nvSpPr>
          <p:cNvPr id="19" name="Text 17"/>
          <p:cNvSpPr/>
          <p:nvPr/>
        </p:nvSpPr>
        <p:spPr>
          <a:xfrm>
            <a:off x="6692733" y="4916587"/>
            <a:ext cx="4642131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The pipeline can extend to other small-object detection tasks in medical imaging.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473</TotalTime>
  <Words>354</Words>
  <Application>Microsoft Macintosh PowerPoint</Application>
  <PresentationFormat>Widescreen</PresentationFormat>
  <Paragraphs>61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Inconsolata Bold</vt:lpstr>
      <vt:lpstr>Arial</vt:lpstr>
      <vt:lpstr>Montserrat Black</vt:lpstr>
      <vt:lpstr>Inconsolata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Matthias Mifsud</cp:lastModifiedBy>
  <cp:revision>5</cp:revision>
  <dcterms:created xsi:type="dcterms:W3CDTF">2026-06-29T11:08:18Z</dcterms:created>
  <dcterms:modified xsi:type="dcterms:W3CDTF">2026-06-30T18:03:40Z</dcterms:modified>
</cp:coreProperties>
</file>