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Inconsolata" pitchFamily="49" charset="77"/>
      <p:regular r:id="rId14"/>
    </p:embeddedFont>
    <p:embeddedFont>
      <p:font typeface="Inconsolata Bold" panose="020F0502020204030204" pitchFamily="34" charset="0"/>
      <p:regular r:id="rId15"/>
      <p:bold r:id="rId16"/>
    </p:embeddedFont>
    <p:embeddedFont>
      <p:font typeface="Montserrat Black" panose="020F0502020204030204" pitchFamily="34" charset="0"/>
      <p:regular r:id="rId17"/>
      <p:bold r:id="rId18"/>
      <p:italic r:id="rId19"/>
      <p:bold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>
        <p:scale>
          <a:sx n="125" d="100"/>
          <a:sy n="125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76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4487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Benchmarking Small-Object Detection on Brain MRI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01777"/>
            <a:ext cx="495337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 Cerebral Microbleed Case Study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680520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4050"/>
              </a:spcAft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Matthias Mifsud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Supervisor: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Prof. Charlie Abela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Faculty of ICT, University of Malta,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275579"/>
            <a:ext cx="4411254" cy="6421934"/>
          </a:xfrm>
          <a:prstGeom prst="round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21593"/>
            <a:ext cx="535490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&amp; Motivation</a:t>
            </a:r>
            <a:endParaRPr lang="en-US" sz="31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1228427"/>
            <a:ext cx="6296860" cy="169088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89239" y="1408113"/>
            <a:ext cx="353537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Are Cerebral Microbleeds?</a:t>
            </a:r>
            <a:endParaRPr lang="en-US" sz="1550" dirty="0"/>
          </a:p>
        </p:txBody>
      </p:sp>
      <p:sp>
        <p:nvSpPr>
          <p:cNvPr id="7" name="Text 2"/>
          <p:cNvSpPr/>
          <p:nvPr/>
        </p:nvSpPr>
        <p:spPr>
          <a:xfrm>
            <a:off x="5489239" y="1740991"/>
            <a:ext cx="5861300" cy="998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Tiny deposits of blood visible on specialised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MRI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modalities such as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T2*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Linked to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cerebrovascular disease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stroke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risk,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cognitive decline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and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small vessel disease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55838"/>
            <a:ext cx="6296860" cy="169088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489239" y="3235523"/>
            <a:ext cx="303284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Visually Challenging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5489239" y="3568402"/>
            <a:ext cx="5861300" cy="998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Microbleeds resemble blood vessels and other anatomical structures, making manual review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slow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error-prone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and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inconsistent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Radiologists must inspect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hundreds of slices per scan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and are prone to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human error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883249"/>
            <a:ext cx="6296860" cy="145315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89239" y="5062934"/>
            <a:ext cx="25503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Metrics Are Incomplete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5489239" y="5395813"/>
            <a:ext cx="5861300" cy="760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Aggregate scores hide spatial context. 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single number cannot capture where or why errors occur (clinicians need to see </a:t>
            </a:r>
            <a:r>
              <a:rPr lang="en-US" sz="12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where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errors happen, not just how many).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9" y="1060450"/>
            <a:ext cx="2158946" cy="4737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1448594"/>
            <a:ext cx="69510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&amp; Preprocessing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9399" y="2322711"/>
            <a:ext cx="3815858" cy="30865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25402" y="2537123"/>
            <a:ext cx="28851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VALDO Challenge 2021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025402" y="2945805"/>
            <a:ext cx="3285447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72 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subjects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Three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MRI modalities (T1, T2, T2*)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Expert binary segmentation masks.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14263" y="2322711"/>
            <a:ext cx="3815957" cy="30865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30267" y="2537123"/>
            <a:ext cx="26301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Preprocessing Steps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030267" y="2945805"/>
            <a:ext cx="3285547" cy="224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Conversion to strict nnU-Net directory structure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Affine alignment and label verification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Connected-component analysis to characterise lesion count and size per subject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F8ECE4"/>
          </a:solidFill>
          <a:ln/>
        </p:spPr>
        <p:txBody>
          <a:bodyPr/>
          <a:lstStyle/>
          <a:p>
            <a:endParaRPr lang="en-M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88" y="1365983"/>
            <a:ext cx="2491751" cy="39722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1987352"/>
            <a:ext cx="538486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Detection Pipeline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3709399" y="2861469"/>
            <a:ext cx="3815858" cy="2009080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41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6" name="Text 3"/>
          <p:cNvSpPr/>
          <p:nvPr/>
        </p:nvSpPr>
        <p:spPr>
          <a:xfrm>
            <a:off x="3904755" y="3056830"/>
            <a:ext cx="34251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Self-Configuring Architecture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904755" y="3760788"/>
            <a:ext cx="34251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nnU-Net v2 adapts preprocessing and network design to the dataset automatically.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14263" y="2861469"/>
            <a:ext cx="3815957" cy="2009080"/>
          </a:xfrm>
          <a:prstGeom prst="roundRect">
            <a:avLst>
              <a:gd name="adj" fmla="val 379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413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9" name="Text 6"/>
          <p:cNvSpPr/>
          <p:nvPr/>
        </p:nvSpPr>
        <p:spPr>
          <a:xfrm>
            <a:off x="7909620" y="3056830"/>
            <a:ext cx="316589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2D Full-Resolution Setup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909620" y="3465513"/>
            <a:ext cx="34252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Selected to fit within hardware constraints whilst preserving fine spatial detail required for tiny lesion detection.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833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Evaluation Logic – Lesion-Level Classification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67657"/>
            <a:ext cx="5339820" cy="368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82069"/>
            <a:ext cx="413077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Connected-Component Analysis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90751"/>
            <a:ext cx="4809409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predicted and ground-truth lesion is isolated as an individual component.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Spatial overlap between components determines the classifications of: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77479" y="4427240"/>
            <a:ext cx="480940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True-positive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False-positive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True-negative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False-negative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367657"/>
            <a:ext cx="5339919" cy="36819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6305" y="258206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Metrics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506305" y="2990751"/>
            <a:ext cx="4809509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Sensitivity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proportion of real lesions detected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Precision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proportion of correct predictions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F1-Score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harmonic mean of sensitivity and precision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Dice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: spatial overlap coefficient (limitation for tiny lesions)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420"/>
            <a:ext cx="5098724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Baseline Results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4623" y="1624409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0.960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2202998" y="2434630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Sensitivity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2817416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Across all 72 subjects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35554" y="1624409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0.971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7744028" y="2434630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F1-Score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202406" y="2817416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Lesion-level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4623" y="3528318"/>
            <a:ext cx="50613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0.895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2202998" y="4338538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Mean Dice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61475" y="4721324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Spatial overlap coefficient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35554" y="3528318"/>
            <a:ext cx="5061419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</a:t>
            </a:r>
            <a:endParaRPr lang="en-US" sz="4650" dirty="0"/>
          </a:p>
        </p:txBody>
      </p:sp>
      <p:sp>
        <p:nvSpPr>
          <p:cNvPr id="13" name="Text 11"/>
          <p:cNvSpPr/>
          <p:nvPr/>
        </p:nvSpPr>
        <p:spPr>
          <a:xfrm>
            <a:off x="7744028" y="4338538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False Positives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02406" y="4721324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Across all subjects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1475" y="5193308"/>
            <a:ext cx="10868745" cy="1032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Median sensitivity and F1-score both reached </a:t>
            </a: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1.000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primary weakness was edge cases: subjects with very high counts of tiny or clustered microbleeds (e.g. VALDO 110 with 73 ground-truth lesions).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7977"/>
            <a:ext cx="63306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6650"/>
            <a:ext cx="3496877" cy="3013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62106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Metrics Are Not Enough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325019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low Dice score may still represent a spatially accurate prediction.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406650"/>
            <a:ext cx="3496877" cy="30133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62106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Importance of Spatial Context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3325019"/>
            <a:ext cx="2966467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Radiologists need to see where errors occur in the scan.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Visual inspection reveals patterns that metrics cannot.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406650"/>
            <a:ext cx="3496877" cy="30133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621062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Probability Threshold Importance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3325019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Probability maps allow users to test how confidence thresholds affect final detections.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2418"/>
            <a:ext cx="880266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 - Per-Subject Viewer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35" y="1966913"/>
            <a:ext cx="3922118" cy="37982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86421" y="1835547"/>
            <a:ext cx="36505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Multi-Planar Navigation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086421" y="2319834"/>
            <a:ext cx="64500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Axial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sagittal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and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coronal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slice navigation enables </a:t>
            </a: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full 3D inspection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of each subject's scan.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086421" y="3113683"/>
            <a:ext cx="42614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Colour-Coded Error Overlays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086421" y="3597970"/>
            <a:ext cx="645005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True Positives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</a:t>
            </a:r>
            <a:r>
              <a:rPr lang="en-US" sz="1450" dirty="0">
                <a:solidFill>
                  <a:srgbClr val="5CC97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green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False Positives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</a:t>
            </a:r>
            <a:r>
              <a:rPr lang="en-US" sz="1450" dirty="0">
                <a:solidFill>
                  <a:srgbClr val="F44444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False Negatives</a:t>
            </a: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</a:t>
            </a:r>
            <a:r>
              <a:rPr lang="en-US" sz="1450" dirty="0">
                <a:solidFill>
                  <a:srgbClr val="F9D933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yellow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86421" y="4826397"/>
            <a:ext cx="41722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 Threshold Slider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086421" y="5310684"/>
            <a:ext cx="64500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Adjust the probability threshold and observe real-time metric recalculation across all slices.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288"/>
            <a:ext cx="9723492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 - Dataset Summary &amp; Analytics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63762"/>
            <a:ext cx="4455207" cy="34951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07769"/>
            <a:ext cx="585108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1475" y="5372398"/>
            <a:ext cx="3127991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Summary Page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5751810"/>
            <a:ext cx="5241496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Sortable metrics table across all 72 subjects, providing a clear view of dataset composition and per-subject performance.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841" y="1363762"/>
            <a:ext cx="3865962" cy="34639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5074" y="4976515"/>
            <a:ext cx="585108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95074" y="5341144"/>
            <a:ext cx="2811293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Graph Analysis Page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295074" y="5720556"/>
            <a:ext cx="5851081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CMB distribution and F1-score ranking views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998"/>
            <a:ext cx="7113509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Findings &amp; Conclusion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468636"/>
            <a:ext cx="3508486" cy="2847777"/>
          </a:xfrm>
          <a:prstGeom prst="roundRect">
            <a:avLst>
              <a:gd name="adj" fmla="val 26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4" name="Text 2"/>
          <p:cNvSpPr/>
          <p:nvPr/>
        </p:nvSpPr>
        <p:spPr>
          <a:xfrm>
            <a:off x="847902" y="1655068"/>
            <a:ext cx="225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Strong Baseline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7902" y="2039541"/>
            <a:ext cx="313563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nnU-Net achieved high lesion-level performance with </a:t>
            </a: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zero false positives</a:t>
            </a: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across all 72 subjects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1605" y="1468636"/>
            <a:ext cx="3508486" cy="2847777"/>
          </a:xfrm>
          <a:prstGeom prst="roundRect">
            <a:avLst>
              <a:gd name="adj" fmla="val 26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7" name="Text 5"/>
          <p:cNvSpPr/>
          <p:nvPr/>
        </p:nvSpPr>
        <p:spPr>
          <a:xfrm>
            <a:off x="4528032" y="1655068"/>
            <a:ext cx="240391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Metrics Limits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28032" y="2039541"/>
            <a:ext cx="3135631" cy="209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Dice is less stable for tiny lesions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Aggregate scores cannot explain spatial error patterns. 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Single-number summaries are insufficient for clinical validation.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21734" y="1468636"/>
            <a:ext cx="3508486" cy="2847777"/>
          </a:xfrm>
          <a:prstGeom prst="roundRect">
            <a:avLst>
              <a:gd name="adj" fmla="val 268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0" name="Text 8"/>
          <p:cNvSpPr/>
          <p:nvPr/>
        </p:nvSpPr>
        <p:spPr>
          <a:xfrm>
            <a:off x="8208162" y="1655068"/>
            <a:ext cx="277220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Dashboard Value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208162" y="2039541"/>
            <a:ext cx="3135631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threshold analysis and visual error inspection make model outputs transparent and clinically interpretable.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1475" y="4488061"/>
            <a:ext cx="10868745" cy="1296393"/>
          </a:xfrm>
          <a:prstGeom prst="roundRect">
            <a:avLst>
              <a:gd name="adj" fmla="val 4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01600" dist="2286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endParaRPr lang="en-MT"/>
          </a:p>
        </p:txBody>
      </p:sp>
      <p:sp>
        <p:nvSpPr>
          <p:cNvPr id="13" name="Text 11"/>
          <p:cNvSpPr/>
          <p:nvPr/>
        </p:nvSpPr>
        <p:spPr>
          <a:xfrm>
            <a:off x="847902" y="4674493"/>
            <a:ext cx="225191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Work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47902" y="5058966"/>
            <a:ext cx="10495891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Full 3D nnU-Net configurations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Extending the project to other small-object medical imaging tasks.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0511" y="3021409"/>
            <a:ext cx="7130673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584</Words>
  <Application>Microsoft Macintosh PowerPoint</Application>
  <PresentationFormat>Widescreen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Inconsolata Bold</vt:lpstr>
      <vt:lpstr>Arial</vt:lpstr>
      <vt:lpstr>Inconsolata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Matthias Mifsud</cp:lastModifiedBy>
  <cp:revision>5</cp:revision>
  <dcterms:created xsi:type="dcterms:W3CDTF">2026-06-29T16:35:33Z</dcterms:created>
  <dcterms:modified xsi:type="dcterms:W3CDTF">2026-06-30T20:40:03Z</dcterms:modified>
</cp:coreProperties>
</file>